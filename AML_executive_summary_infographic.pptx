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239625" cy="71993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>
        <p:scale>
          <a:sx n="90" d="100"/>
          <a:sy n="90" d="100"/>
        </p:scale>
        <p:origin x="355" y="-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0700" y="-108686"/>
            <a:ext cx="12240000" cy="7200000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240000" cy="792000"/>
          </a:xfrm>
          <a:prstGeom prst="rect">
            <a:avLst/>
          </a:prstGeom>
          <a:solidFill>
            <a:srgbClr val="0F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16000" y="125999"/>
            <a:ext cx="7200000" cy="360000"/>
          </a:xfrm>
          <a:prstGeom prst="rect">
            <a:avLst/>
          </a:prstGeom>
          <a:noFill/>
        </p:spPr>
        <p:txBody>
          <a:bodyPr wrap="square" lIns="18000" tIns="7200" rIns="18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FFFFFF"/>
                </a:solidFill>
                <a:latin typeface="Calibri"/>
              </a:rPr>
              <a:t>SmartSentry AML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6000" y="450000"/>
            <a:ext cx="7200000" cy="251999"/>
          </a:xfrm>
          <a:prstGeom prst="rect">
            <a:avLst/>
          </a:prstGeom>
          <a:noFill/>
        </p:spPr>
        <p:txBody>
          <a:bodyPr wrap="square" lIns="18000" tIns="7200" rIns="18000" bIns="72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9FBBD4"/>
                </a:solidFill>
                <a:latin typeface="Calibri"/>
              </a:rPr>
              <a:t>AI-powered anti-money laundering detection &amp; classification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44000" y="234000"/>
            <a:ext cx="576000" cy="216000"/>
          </a:xfrm>
          <a:prstGeom prst="roundRect">
            <a:avLst>
              <a:gd name="adj" fmla="val 50000"/>
            </a:avLst>
          </a:prstGeom>
          <a:solidFill>
            <a:srgbClr val="1D9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000" tIns="7200" rIns="36000" bIns="720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Active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04000" y="234000"/>
            <a:ext cx="792000" cy="216000"/>
          </a:xfrm>
          <a:prstGeom prst="rect">
            <a:avLst/>
          </a:prstGeom>
          <a:noFill/>
        </p:spPr>
        <p:txBody>
          <a:bodyPr wrap="square" lIns="18000" tIns="7200" rIns="18000" bIns="720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9FBBD4"/>
                </a:solidFill>
                <a:latin typeface="Calibri"/>
              </a:rPr>
              <a:t>May 2026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80000" y="882000"/>
            <a:ext cx="3816000" cy="529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4E4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305999" y="990000"/>
            <a:ext cx="251999" cy="251999"/>
          </a:xfrm>
          <a:prstGeom prst="roundRect">
            <a:avLst>
              <a:gd name="adj" fmla="val 25000"/>
            </a:avLst>
          </a:prstGeom>
          <a:solidFill>
            <a:srgbClr val="FAE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200" b="1">
                <a:solidFill>
                  <a:srgbClr val="854F0B"/>
                </a:solidFill>
                <a:latin typeface="Segoe UI Symbol"/>
              </a:rPr>
              <a:t>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000" y="992127"/>
            <a:ext cx="3347998" cy="247746"/>
          </a:xfrm>
          <a:prstGeom prst="rect">
            <a:avLst/>
          </a:prstGeom>
          <a:noFill/>
        </p:spPr>
        <p:txBody>
          <a:bodyPr wrap="square" lIns="18000" tIns="7200" rIns="18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dirty="0">
                <a:solidFill>
                  <a:srgbClr val="232323"/>
                </a:solidFill>
                <a:latin typeface="Calibri"/>
              </a:rPr>
              <a:t>Why current </a:t>
            </a:r>
            <a:r>
              <a:rPr lang="en-IN" sz="1400" b="1" dirty="0">
                <a:solidFill>
                  <a:srgbClr val="232323"/>
                </a:solidFill>
                <a:latin typeface="Calibri"/>
              </a:rPr>
              <a:t>rule based </a:t>
            </a:r>
            <a:r>
              <a:rPr sz="1400" b="1" dirty="0">
                <a:solidFill>
                  <a:srgbClr val="232323"/>
                </a:solidFill>
                <a:latin typeface="Calibri"/>
              </a:rPr>
              <a:t>AML monitoring fails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05999" y="1332000"/>
            <a:ext cx="3564000" cy="1044000"/>
          </a:xfrm>
          <a:prstGeom prst="roundRect">
            <a:avLst>
              <a:gd name="adj" fmla="val 5000"/>
            </a:avLst>
          </a:prstGeom>
          <a:solidFill>
            <a:srgbClr val="FAE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96000" y="1396800"/>
            <a:ext cx="3384000" cy="216000"/>
          </a:xfrm>
          <a:prstGeom prst="rect">
            <a:avLst/>
          </a:prstGeom>
          <a:noFill/>
        </p:spPr>
        <p:txBody>
          <a:bodyPr wrap="square" lIns="18000" tIns="7200" rIns="18000" bIns="72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854F0B"/>
                </a:solidFill>
                <a:latin typeface="Calibri"/>
              </a:rPr>
              <a:t>90–95% false positives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6000" y="1638000"/>
            <a:ext cx="3384000" cy="720000"/>
          </a:xfrm>
          <a:prstGeom prst="rect">
            <a:avLst/>
          </a:prstGeom>
          <a:noFill/>
        </p:spPr>
        <p:txBody>
          <a:bodyPr wrap="square" lIns="18000" tIns="7200" rIns="18000" bIns="720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633806"/>
                </a:solidFill>
                <a:latin typeface="Calibri"/>
              </a:rPr>
              <a:t>Teams waste time investigating noise instead of genuine suspicious activity.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05999" y="2484000"/>
            <a:ext cx="3564000" cy="1044000"/>
          </a:xfrm>
          <a:prstGeom prst="roundRect">
            <a:avLst>
              <a:gd name="adj" fmla="val 5000"/>
            </a:avLst>
          </a:prstGeom>
          <a:solidFill>
            <a:srgbClr val="FAE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96000" y="2548800"/>
            <a:ext cx="3384000" cy="216000"/>
          </a:xfrm>
          <a:prstGeom prst="rect">
            <a:avLst/>
          </a:prstGeom>
          <a:noFill/>
        </p:spPr>
        <p:txBody>
          <a:bodyPr wrap="square" lIns="18000" tIns="7200" rIns="18000" bIns="72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854F0B"/>
                </a:solidFill>
                <a:latin typeface="Calibri"/>
              </a:rPr>
              <a:t>Complex laundering missed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6000" y="2790000"/>
            <a:ext cx="3384000" cy="720000"/>
          </a:xfrm>
          <a:prstGeom prst="rect">
            <a:avLst/>
          </a:prstGeom>
          <a:noFill/>
        </p:spPr>
        <p:txBody>
          <a:bodyPr wrap="square" lIns="18000" tIns="7200" rIns="18000" bIns="720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633806"/>
                </a:solidFill>
                <a:latin typeface="Calibri"/>
              </a:rPr>
              <a:t>Static rules struggle with layering, loops, mule networks and hawala-style corridors.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05999" y="3636000"/>
            <a:ext cx="3564000" cy="1044000"/>
          </a:xfrm>
          <a:prstGeom prst="roundRect">
            <a:avLst>
              <a:gd name="adj" fmla="val 5000"/>
            </a:avLst>
          </a:prstGeom>
          <a:solidFill>
            <a:srgbClr val="FAE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96000" y="3700800"/>
            <a:ext cx="3384000" cy="216000"/>
          </a:xfrm>
          <a:prstGeom prst="rect">
            <a:avLst/>
          </a:prstGeom>
          <a:noFill/>
        </p:spPr>
        <p:txBody>
          <a:bodyPr wrap="square" lIns="18000" tIns="7200" rIns="18000" bIns="72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854F0B"/>
                </a:solidFill>
                <a:latin typeface="Calibri"/>
              </a:rPr>
              <a:t>Single-label blind spot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6000" y="3942000"/>
            <a:ext cx="3384000" cy="720000"/>
          </a:xfrm>
          <a:prstGeom prst="rect">
            <a:avLst/>
          </a:prstGeom>
          <a:noFill/>
        </p:spPr>
        <p:txBody>
          <a:bodyPr wrap="square" lIns="18000" tIns="7200" rIns="18000" bIns="720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633806"/>
                </a:solidFill>
                <a:latin typeface="Calibri"/>
              </a:rPr>
              <a:t>Conventional systems force one label per case, missing transactions that fit multiple typologies.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05999" y="4788000"/>
            <a:ext cx="3564000" cy="1044000"/>
          </a:xfrm>
          <a:prstGeom prst="roundRect">
            <a:avLst>
              <a:gd name="adj" fmla="val 5000"/>
            </a:avLst>
          </a:prstGeom>
          <a:solidFill>
            <a:srgbClr val="FAE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96000" y="4852800"/>
            <a:ext cx="3384000" cy="216000"/>
          </a:xfrm>
          <a:prstGeom prst="rect">
            <a:avLst/>
          </a:prstGeom>
          <a:noFill/>
        </p:spPr>
        <p:txBody>
          <a:bodyPr wrap="square" lIns="18000" tIns="7200" rIns="18000" bIns="72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854F0B"/>
                </a:solidFill>
                <a:latin typeface="Calibri"/>
              </a:rPr>
              <a:t>Regulatory exposure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6000" y="5094000"/>
            <a:ext cx="3384000" cy="720000"/>
          </a:xfrm>
          <a:prstGeom prst="rect">
            <a:avLst/>
          </a:prstGeom>
          <a:noFill/>
        </p:spPr>
        <p:txBody>
          <a:bodyPr wrap="square" lIns="18000" tIns="7200" rIns="18000" bIns="720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633806"/>
                </a:solidFill>
                <a:latin typeface="Calibri"/>
              </a:rPr>
              <a:t>Rising compliance risk with static monitoring systems and audit-incomplete trails.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57999" y="882000"/>
            <a:ext cx="3816000" cy="529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4E4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4283998" y="990000"/>
            <a:ext cx="251999" cy="251999"/>
          </a:xfrm>
          <a:prstGeom prst="roundRect">
            <a:avLst>
              <a:gd name="adj" fmla="val 25000"/>
            </a:avLst>
          </a:prstGeom>
          <a:solidFill>
            <a:srgbClr val="E6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200" b="1">
                <a:solidFill>
                  <a:srgbClr val="0C447C"/>
                </a:solidFill>
                <a:latin typeface="Segoe UI Symbol"/>
              </a:rPr>
              <a:t>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89999" y="990000"/>
            <a:ext cx="3060000" cy="251999"/>
          </a:xfrm>
          <a:prstGeom prst="rect">
            <a:avLst/>
          </a:prstGeom>
          <a:noFill/>
        </p:spPr>
        <p:txBody>
          <a:bodyPr wrap="square" lIns="18000" tIns="7200" rIns="18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dirty="0">
                <a:solidFill>
                  <a:srgbClr val="232323"/>
                </a:solidFill>
                <a:latin typeface="Calibri"/>
              </a:rPr>
              <a:t>How </a:t>
            </a:r>
            <a:r>
              <a:rPr sz="1400" b="1" dirty="0" err="1">
                <a:solidFill>
                  <a:srgbClr val="232323"/>
                </a:solidFill>
                <a:latin typeface="Calibri"/>
              </a:rPr>
              <a:t>SmartSentry</a:t>
            </a:r>
            <a:r>
              <a:rPr sz="1400" b="1" dirty="0">
                <a:solidFill>
                  <a:srgbClr val="232323"/>
                </a:solidFill>
                <a:latin typeface="Calibri"/>
              </a:rPr>
              <a:t> AML works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83998" y="1332000"/>
            <a:ext cx="618202" cy="198000"/>
          </a:xfrm>
          <a:prstGeom prst="roundRect">
            <a:avLst>
              <a:gd name="adj" fmla="val 50000"/>
            </a:avLst>
          </a:prstGeom>
          <a:solidFill>
            <a:srgbClr val="E6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000" tIns="7200" rIns="36000" bIns="7200" rtlCol="0" anchor="ctr"/>
          <a:lstStyle/>
          <a:p>
            <a:pPr algn="ctr"/>
            <a:r>
              <a:rPr sz="800" b="1" dirty="0">
                <a:solidFill>
                  <a:srgbClr val="0C447C"/>
                </a:solidFill>
                <a:latin typeface="Calibri"/>
              </a:rPr>
              <a:t>126 rules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119199" y="1332000"/>
            <a:ext cx="793698" cy="198000"/>
          </a:xfrm>
          <a:prstGeom prst="roundRect">
            <a:avLst>
              <a:gd name="adj" fmla="val 50000"/>
            </a:avLst>
          </a:prstGeom>
          <a:solidFill>
            <a:srgbClr val="E6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000" tIns="7200" rIns="36000" bIns="7200" rtlCol="0" anchor="ctr"/>
          <a:lstStyle/>
          <a:p>
            <a:pPr algn="ctr"/>
            <a:r>
              <a:rPr sz="800" b="1">
                <a:solidFill>
                  <a:srgbClr val="0C447C"/>
                </a:solidFill>
                <a:latin typeface="Calibri"/>
              </a:rPr>
              <a:t>200+ features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041030" y="1332000"/>
            <a:ext cx="797401" cy="198000"/>
          </a:xfrm>
          <a:prstGeom prst="roundRect">
            <a:avLst>
              <a:gd name="adj" fmla="val 50000"/>
            </a:avLst>
          </a:prstGeom>
          <a:solidFill>
            <a:srgbClr val="E6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000" tIns="7200" rIns="36000" bIns="7200" rtlCol="0" anchor="ctr"/>
          <a:lstStyle/>
          <a:p>
            <a:pPr algn="ctr"/>
            <a:r>
              <a:rPr sz="800" b="1" dirty="0">
                <a:solidFill>
                  <a:srgbClr val="0C447C"/>
                </a:solidFill>
                <a:latin typeface="Calibri"/>
              </a:rPr>
              <a:t>10 typologies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010998" y="1332000"/>
            <a:ext cx="913803" cy="198000"/>
          </a:xfrm>
          <a:prstGeom prst="roundRect">
            <a:avLst>
              <a:gd name="adj" fmla="val 50000"/>
            </a:avLst>
          </a:prstGeom>
          <a:solidFill>
            <a:srgbClr val="E6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000" tIns="7200" rIns="36000" bIns="7200" rtlCol="0" anchor="ctr"/>
          <a:lstStyle/>
          <a:p>
            <a:pPr algn="ctr"/>
            <a:r>
              <a:rPr sz="800" b="1" dirty="0">
                <a:solidFill>
                  <a:srgbClr val="0C447C"/>
                </a:solidFill>
                <a:latin typeface="Calibri"/>
              </a:rPr>
              <a:t>Multi-label output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283998" y="1602000"/>
            <a:ext cx="837000" cy="39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5D4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283998" y="1656000"/>
            <a:ext cx="837000" cy="162000"/>
          </a:xfrm>
          <a:prstGeom prst="rect">
            <a:avLst/>
          </a:prstGeom>
          <a:noFill/>
        </p:spPr>
        <p:txBody>
          <a:bodyPr wrap="square" lIns="18000" tIns="7200" rIns="18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>
                <a:solidFill>
                  <a:srgbClr val="0C447C"/>
                </a:solidFill>
                <a:latin typeface="Calibri"/>
              </a:rPr>
              <a:t>Transaction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83998" y="1818000"/>
            <a:ext cx="837000" cy="162000"/>
          </a:xfrm>
          <a:prstGeom prst="rect">
            <a:avLst/>
          </a:prstGeom>
          <a:noFill/>
        </p:spPr>
        <p:txBody>
          <a:bodyPr wrap="square" lIns="18000" tIns="7200" rIns="18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>
                <a:solidFill>
                  <a:srgbClr val="185FA5"/>
                </a:solidFill>
                <a:latin typeface="Calibri"/>
              </a:rPr>
              <a:t>Ingest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20998" y="1602000"/>
            <a:ext cx="72000" cy="396000"/>
          </a:xfrm>
          <a:prstGeom prst="rect">
            <a:avLst/>
          </a:prstGeom>
          <a:noFill/>
        </p:spPr>
        <p:txBody>
          <a:bodyPr wrap="square" lIns="18000" tIns="7200" rIns="18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B5D4F4"/>
                </a:solidFill>
                <a:latin typeface="Calibri"/>
              </a:rPr>
              <a:t>›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192998" y="1602000"/>
            <a:ext cx="837000" cy="39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5D4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192998" y="1656000"/>
            <a:ext cx="837000" cy="162000"/>
          </a:xfrm>
          <a:prstGeom prst="rect">
            <a:avLst/>
          </a:prstGeom>
          <a:noFill/>
        </p:spPr>
        <p:txBody>
          <a:bodyPr wrap="square" lIns="18000" tIns="7200" rIns="18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>
                <a:solidFill>
                  <a:srgbClr val="0C447C"/>
                </a:solidFill>
                <a:latin typeface="Calibri"/>
              </a:rPr>
              <a:t>126 rules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92998" y="1818000"/>
            <a:ext cx="837000" cy="162000"/>
          </a:xfrm>
          <a:prstGeom prst="rect">
            <a:avLst/>
          </a:prstGeom>
          <a:noFill/>
        </p:spPr>
        <p:txBody>
          <a:bodyPr wrap="square" lIns="18000" tIns="7200" rIns="18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>
                <a:solidFill>
                  <a:srgbClr val="185FA5"/>
                </a:solidFill>
                <a:latin typeface="Calibri"/>
              </a:rPr>
              <a:t>Scan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29998" y="1602000"/>
            <a:ext cx="72000" cy="396000"/>
          </a:xfrm>
          <a:prstGeom prst="rect">
            <a:avLst/>
          </a:prstGeom>
          <a:noFill/>
        </p:spPr>
        <p:txBody>
          <a:bodyPr wrap="square" lIns="18000" tIns="7200" rIns="18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B5D4F4"/>
                </a:solidFill>
                <a:latin typeface="Calibri"/>
              </a:rPr>
              <a:t>›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01998" y="1602000"/>
            <a:ext cx="837000" cy="39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5D4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101998" y="1656000"/>
            <a:ext cx="837000" cy="162000"/>
          </a:xfrm>
          <a:prstGeom prst="rect">
            <a:avLst/>
          </a:prstGeom>
          <a:noFill/>
        </p:spPr>
        <p:txBody>
          <a:bodyPr wrap="square" lIns="18000" tIns="7200" rIns="18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>
                <a:solidFill>
                  <a:srgbClr val="0C447C"/>
                </a:solidFill>
                <a:latin typeface="Calibri"/>
              </a:rPr>
              <a:t>200+ features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01998" y="1818000"/>
            <a:ext cx="837000" cy="162000"/>
          </a:xfrm>
          <a:prstGeom prst="rect">
            <a:avLst/>
          </a:prstGeom>
          <a:noFill/>
        </p:spPr>
        <p:txBody>
          <a:bodyPr wrap="square" lIns="18000" tIns="7200" rIns="18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>
                <a:solidFill>
                  <a:srgbClr val="185FA5"/>
                </a:solidFill>
                <a:latin typeface="Calibri"/>
              </a:rPr>
              <a:t>Engineer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38998" y="1602000"/>
            <a:ext cx="72000" cy="396000"/>
          </a:xfrm>
          <a:prstGeom prst="rect">
            <a:avLst/>
          </a:prstGeom>
          <a:noFill/>
        </p:spPr>
        <p:txBody>
          <a:bodyPr wrap="square" lIns="18000" tIns="7200" rIns="18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B5D4F4"/>
                </a:solidFill>
                <a:latin typeface="Calibri"/>
              </a:rPr>
              <a:t>›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010998" y="1602000"/>
            <a:ext cx="837000" cy="39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5D4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7010998" y="1656000"/>
            <a:ext cx="837000" cy="162000"/>
          </a:xfrm>
          <a:prstGeom prst="rect">
            <a:avLst/>
          </a:prstGeom>
          <a:noFill/>
        </p:spPr>
        <p:txBody>
          <a:bodyPr wrap="square" lIns="18000" tIns="7200" rIns="18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>
                <a:solidFill>
                  <a:srgbClr val="0C447C"/>
                </a:solidFill>
                <a:latin typeface="Calibri"/>
              </a:rPr>
              <a:t>Detection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10998" y="1818000"/>
            <a:ext cx="837000" cy="162000"/>
          </a:xfrm>
          <a:prstGeom prst="rect">
            <a:avLst/>
          </a:prstGeom>
          <a:noFill/>
        </p:spPr>
        <p:txBody>
          <a:bodyPr wrap="square" lIns="18000" tIns="7200" rIns="18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>
                <a:solidFill>
                  <a:srgbClr val="185FA5"/>
                </a:solidFill>
                <a:latin typeface="Calibri"/>
              </a:rPr>
              <a:t>Score</a:t>
            </a:r>
          </a:p>
        </p:txBody>
      </p: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BDFD7DC9-DAF7-9853-7D5A-EC8D09CDAFAC}"/>
              </a:ext>
            </a:extLst>
          </p:cNvPr>
          <p:cNvGrpSpPr/>
          <p:nvPr/>
        </p:nvGrpSpPr>
        <p:grpSpPr>
          <a:xfrm>
            <a:off x="4283998" y="2056250"/>
            <a:ext cx="3564000" cy="1314000"/>
            <a:chOff x="4283998" y="2088000"/>
            <a:chExt cx="3564000" cy="1314000"/>
          </a:xfrm>
        </p:grpSpPr>
        <p:sp>
          <p:nvSpPr>
            <p:cNvPr id="45" name="Rounded Rectangle 44"/>
            <p:cNvSpPr/>
            <p:nvPr/>
          </p:nvSpPr>
          <p:spPr>
            <a:xfrm>
              <a:off x="4283998" y="2088000"/>
              <a:ext cx="3564000" cy="558000"/>
            </a:xfrm>
            <a:prstGeom prst="roundRect">
              <a:avLst>
                <a:gd name="adj" fmla="val 5000"/>
              </a:avLst>
            </a:prstGeom>
            <a:solidFill>
              <a:srgbClr val="E1F5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4355999" y="2142000"/>
              <a:ext cx="3420000" cy="180000"/>
            </a:xfrm>
            <a:prstGeom prst="rect">
              <a:avLst/>
            </a:prstGeom>
            <a:noFill/>
          </p:spPr>
          <p:txBody>
            <a:bodyPr wrap="square" lIns="18000" tIns="7200" rIns="18000" bIns="7200" anchor="t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000" b="1" dirty="0">
                  <a:solidFill>
                    <a:srgbClr val="0F6E56"/>
                  </a:solidFill>
                  <a:latin typeface="Calibri"/>
                </a:rPr>
                <a:t>🤖  Phase 1: AML detection — </a:t>
              </a:r>
              <a:r>
                <a:rPr lang="en-IN" sz="1000" b="1" dirty="0">
                  <a:solidFill>
                    <a:srgbClr val="0F6E56"/>
                  </a:solidFill>
                  <a:latin typeface="Calibri"/>
                </a:rPr>
                <a:t>85% Recall</a:t>
              </a:r>
              <a:endParaRPr sz="1000" b="1" dirty="0">
                <a:solidFill>
                  <a:srgbClr val="0F6E56"/>
                </a:solidFill>
                <a:latin typeface="Calibri"/>
              </a:endParaRPr>
            </a:p>
          </p:txBody>
        </p:sp>
        <p:sp>
          <p:nvSpPr>
            <p:cNvPr id="47" name="TextBox 46"/>
            <p:cNvSpPr txBox="1"/>
            <p:nvPr/>
          </p:nvSpPr>
          <p:spPr>
            <a:xfrm>
              <a:off x="4355999" y="2322000"/>
              <a:ext cx="3420000" cy="329499"/>
            </a:xfrm>
            <a:prstGeom prst="rect">
              <a:avLst/>
            </a:prstGeom>
            <a:noFill/>
          </p:spPr>
          <p:txBody>
            <a:bodyPr wrap="square" lIns="18000" tIns="7200" rIns="18000" bIns="7200" anchor="t">
              <a:spAutoFit/>
            </a:bodyPr>
            <a:lstStyle/>
            <a:p>
              <a:pPr algn="l">
                <a:lnSpc>
                  <a:spcPct val="125000"/>
                </a:lnSpc>
              </a:pPr>
              <a:r>
                <a:rPr sz="850" b="0" dirty="0">
                  <a:solidFill>
                    <a:srgbClr val="085041"/>
                  </a:solidFill>
                  <a:latin typeface="Calibri"/>
                </a:rPr>
                <a:t>Binary </a:t>
              </a:r>
              <a:r>
                <a:rPr sz="850" b="0" dirty="0" err="1">
                  <a:solidFill>
                    <a:srgbClr val="085041"/>
                  </a:solidFill>
                  <a:latin typeface="Calibri"/>
                </a:rPr>
                <a:t>LightGBM</a:t>
              </a:r>
              <a:r>
                <a:rPr sz="850" b="0" dirty="0">
                  <a:solidFill>
                    <a:srgbClr val="085041"/>
                  </a:solidFill>
                  <a:latin typeface="Calibri"/>
                </a:rPr>
                <a:t> model identifies suspicious transactions using behavioral, account, velocity, device and risk signals.</a:t>
              </a:r>
            </a:p>
          </p:txBody>
        </p:sp>
        <p:sp>
          <p:nvSpPr>
            <p:cNvPr id="48" name="Rounded Rectangle 47"/>
            <p:cNvSpPr/>
            <p:nvPr/>
          </p:nvSpPr>
          <p:spPr>
            <a:xfrm>
              <a:off x="4283998" y="2682000"/>
              <a:ext cx="3564000" cy="720000"/>
            </a:xfrm>
            <a:prstGeom prst="roundRect">
              <a:avLst>
                <a:gd name="adj" fmla="val 5000"/>
              </a:avLst>
            </a:prstGeom>
            <a:solidFill>
              <a:srgbClr val="E1F5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4355999" y="2736000"/>
              <a:ext cx="3420000" cy="180000"/>
            </a:xfrm>
            <a:prstGeom prst="rect">
              <a:avLst/>
            </a:prstGeom>
            <a:noFill/>
          </p:spPr>
          <p:txBody>
            <a:bodyPr wrap="square" lIns="18000" tIns="7200" rIns="18000" bIns="7200" anchor="t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000" b="1" dirty="0">
                  <a:solidFill>
                    <a:srgbClr val="0F6E56"/>
                  </a:solidFill>
                  <a:latin typeface="Calibri"/>
                </a:rPr>
                <a:t>🧬  Phase 2: Multi-label typology ID — 82% </a:t>
              </a:r>
              <a:r>
                <a:rPr lang="en-IN" sz="1000" b="1" dirty="0">
                  <a:solidFill>
                    <a:srgbClr val="0F6E56"/>
                  </a:solidFill>
                  <a:latin typeface="Calibri"/>
                </a:rPr>
                <a:t>R</a:t>
              </a:r>
              <a:r>
                <a:rPr sz="1000" b="1" dirty="0" err="1">
                  <a:solidFill>
                    <a:srgbClr val="0F6E56"/>
                  </a:solidFill>
                  <a:latin typeface="Calibri"/>
                </a:rPr>
                <a:t>ecall</a:t>
              </a:r>
              <a:endParaRPr sz="1000" b="1" dirty="0">
                <a:solidFill>
                  <a:srgbClr val="0F6E56"/>
                </a:solidFill>
                <a:latin typeface="Calibri"/>
              </a:endParaRPr>
            </a:p>
          </p:txBody>
        </p:sp>
        <p:sp>
          <p:nvSpPr>
            <p:cNvPr id="50" name="TextBox 49"/>
            <p:cNvSpPr txBox="1"/>
            <p:nvPr/>
          </p:nvSpPr>
          <p:spPr>
            <a:xfrm>
              <a:off x="4355999" y="2916000"/>
              <a:ext cx="3420000" cy="378000"/>
            </a:xfrm>
            <a:prstGeom prst="rect">
              <a:avLst/>
            </a:prstGeom>
            <a:noFill/>
          </p:spPr>
          <p:txBody>
            <a:bodyPr wrap="square" lIns="18000" tIns="7200" rIns="18000" bIns="7200" anchor="t">
              <a:spAutoFit/>
            </a:bodyPr>
            <a:lstStyle/>
            <a:p>
              <a:pPr algn="l">
                <a:lnSpc>
                  <a:spcPct val="125000"/>
                </a:lnSpc>
              </a:pPr>
              <a:r>
                <a:rPr sz="850" b="0">
                  <a:solidFill>
                    <a:srgbClr val="085041"/>
                  </a:solidFill>
                  <a:latin typeface="Calibri"/>
                </a:rPr>
                <a:t>Classifies flagged activity across 10 FATF-recognised laundering typologies. Flags every typology above 30% probability so layered cases get every relevant tag.</a:t>
              </a:r>
            </a:p>
          </p:txBody>
        </p:sp>
      </p:grpSp>
      <p:sp>
        <p:nvSpPr>
          <p:cNvPr id="51" name="Rounded Rectangle 50"/>
          <p:cNvSpPr/>
          <p:nvPr/>
        </p:nvSpPr>
        <p:spPr>
          <a:xfrm>
            <a:off x="4296698" y="3438000"/>
            <a:ext cx="3564000" cy="2700000"/>
          </a:xfrm>
          <a:prstGeom prst="roundRect">
            <a:avLst>
              <a:gd name="adj" fmla="val 5000"/>
            </a:avLst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4368699" y="3492000"/>
            <a:ext cx="2340000" cy="162000"/>
          </a:xfrm>
          <a:prstGeom prst="rect">
            <a:avLst/>
          </a:prstGeom>
          <a:noFill/>
        </p:spPr>
        <p:txBody>
          <a:bodyPr wrap="square" lIns="18000" tIns="7200" rIns="18000" bIns="72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232323"/>
                </a:solidFill>
                <a:latin typeface="Calibri"/>
              </a:rPr>
              <a:t>AI-powered Risk Intelligence Engine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32551" y="3492000"/>
            <a:ext cx="1374148" cy="147847"/>
          </a:xfrm>
          <a:prstGeom prst="rect">
            <a:avLst/>
          </a:prstGeom>
          <a:noFill/>
        </p:spPr>
        <p:txBody>
          <a:bodyPr wrap="square" lIns="18000" tIns="7200" rIns="18000" bIns="72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dirty="0">
                <a:solidFill>
                  <a:srgbClr val="6B6B64"/>
                </a:solidFill>
                <a:latin typeface="Calibri"/>
              </a:rPr>
              <a:t>390K+ training transactions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368699" y="3708000"/>
            <a:ext cx="3420000" cy="5625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E4E4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4440699" y="3751200"/>
            <a:ext cx="3276000" cy="151200"/>
          </a:xfrm>
          <a:prstGeom prst="rect">
            <a:avLst/>
          </a:prstGeom>
          <a:noFill/>
        </p:spPr>
        <p:txBody>
          <a:bodyPr wrap="square" lIns="18000" tIns="7200" rIns="18000" bIns="72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0C447C"/>
                </a:solidFill>
                <a:latin typeface="Calibri"/>
              </a:rPr>
              <a:t>Pattern learning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440699" y="3895200"/>
            <a:ext cx="3276000" cy="346500"/>
          </a:xfrm>
          <a:prstGeom prst="rect">
            <a:avLst/>
          </a:prstGeom>
          <a:noFill/>
        </p:spPr>
        <p:txBody>
          <a:bodyPr wrap="square" lIns="18000" tIns="7200" rIns="18000" bIns="72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>
                <a:solidFill>
                  <a:srgbClr val="6B6B64"/>
                </a:solidFill>
                <a:latin typeface="Calibri"/>
              </a:rPr>
              <a:t>Learns laundering signatures from labelled scenarios across all 10 typologies, beyond fixed rule combinations.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368699" y="4306500"/>
            <a:ext cx="3420000" cy="5625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E4E4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4440699" y="4349700"/>
            <a:ext cx="3276000" cy="151200"/>
          </a:xfrm>
          <a:prstGeom prst="rect">
            <a:avLst/>
          </a:prstGeom>
          <a:noFill/>
        </p:spPr>
        <p:txBody>
          <a:bodyPr wrap="square" lIns="18000" tIns="7200" rIns="18000" bIns="72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0C447C"/>
                </a:solidFill>
                <a:latin typeface="Calibri"/>
              </a:rPr>
              <a:t>Anomaly detection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440699" y="4493700"/>
            <a:ext cx="3276000" cy="346500"/>
          </a:xfrm>
          <a:prstGeom prst="rect">
            <a:avLst/>
          </a:prstGeom>
          <a:noFill/>
        </p:spPr>
        <p:txBody>
          <a:bodyPr wrap="square" lIns="18000" tIns="7200" rIns="18000" bIns="72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>
                <a:solidFill>
                  <a:srgbClr val="6B6B64"/>
                </a:solidFill>
                <a:latin typeface="Calibri"/>
              </a:rPr>
              <a:t>Surfaces transactions whose velocity, balance or counterparty profile breaks from a customer's own baseline.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368699" y="4905000"/>
            <a:ext cx="3420000" cy="5625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E4E4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4440699" y="4948200"/>
            <a:ext cx="3276000" cy="151200"/>
          </a:xfrm>
          <a:prstGeom prst="rect">
            <a:avLst/>
          </a:prstGeom>
          <a:noFill/>
        </p:spPr>
        <p:txBody>
          <a:bodyPr wrap="square" lIns="18000" tIns="7200" rIns="18000" bIns="72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0C447C"/>
                </a:solidFill>
                <a:latin typeface="Calibri"/>
              </a:rPr>
              <a:t>Rare pattern detection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440699" y="5092200"/>
            <a:ext cx="3276000" cy="346500"/>
          </a:xfrm>
          <a:prstGeom prst="rect">
            <a:avLst/>
          </a:prstGeom>
          <a:noFill/>
        </p:spPr>
        <p:txBody>
          <a:bodyPr wrap="square" lIns="18000" tIns="7200" rIns="18000" bIns="72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>
                <a:solidFill>
                  <a:srgbClr val="6B6B64"/>
                </a:solidFill>
                <a:latin typeface="Calibri"/>
              </a:rPr>
              <a:t>Inverse-frequency class weighting (up to 2.5×) keeps low-volume typologies like Hawala from being absorbed by Funnel/Layering.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368699" y="5503500"/>
            <a:ext cx="3420000" cy="5625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E4E4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4440699" y="5546700"/>
            <a:ext cx="3276000" cy="151200"/>
          </a:xfrm>
          <a:prstGeom prst="rect">
            <a:avLst/>
          </a:prstGeom>
          <a:noFill/>
        </p:spPr>
        <p:txBody>
          <a:bodyPr wrap="square" lIns="18000" tIns="7200" rIns="18000" bIns="72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0C447C"/>
                </a:solidFill>
                <a:latin typeface="Calibri"/>
              </a:rPr>
              <a:t>Explainable AI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440699" y="5690700"/>
            <a:ext cx="3276000" cy="346500"/>
          </a:xfrm>
          <a:prstGeom prst="rect">
            <a:avLst/>
          </a:prstGeom>
          <a:noFill/>
        </p:spPr>
        <p:txBody>
          <a:bodyPr wrap="square" lIns="18000" tIns="7200" rIns="18000" bIns="72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>
                <a:solidFill>
                  <a:srgbClr val="6B6B64"/>
                </a:solidFill>
                <a:latin typeface="Calibri"/>
              </a:rPr>
              <a:t>Every alert ships with the typology name, confidence, the specific rules that fired and a plain-English narrative.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8135999" y="882000"/>
            <a:ext cx="3816000" cy="529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4E4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ounded Rectangle 66"/>
          <p:cNvSpPr/>
          <p:nvPr/>
        </p:nvSpPr>
        <p:spPr>
          <a:xfrm>
            <a:off x="8261998" y="990000"/>
            <a:ext cx="251999" cy="251999"/>
          </a:xfrm>
          <a:prstGeom prst="roundRect">
            <a:avLst>
              <a:gd name="adj" fmla="val 25000"/>
            </a:avLst>
          </a:prstGeom>
          <a:solidFill>
            <a:srgbClr val="E1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200" b="1">
                <a:solidFill>
                  <a:srgbClr val="0F6E56"/>
                </a:solidFill>
                <a:latin typeface="Segoe UI Symbol"/>
              </a:rPr>
              <a:t>📊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567999" y="990000"/>
            <a:ext cx="3060000" cy="251999"/>
          </a:xfrm>
          <a:prstGeom prst="rect">
            <a:avLst/>
          </a:prstGeom>
          <a:noFill/>
        </p:spPr>
        <p:txBody>
          <a:bodyPr wrap="square" lIns="18000" tIns="7200" rIns="18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dirty="0">
                <a:solidFill>
                  <a:srgbClr val="232323"/>
                </a:solidFill>
                <a:latin typeface="Calibri"/>
              </a:rPr>
              <a:t>Performance metrics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8261998" y="1350000"/>
            <a:ext cx="3564000" cy="972000"/>
          </a:xfrm>
          <a:prstGeom prst="roundRect">
            <a:avLst>
              <a:gd name="adj" fmla="val 5000"/>
            </a:avLst>
          </a:prstGeom>
          <a:solidFill>
            <a:srgbClr val="F4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8261998" y="1404000"/>
            <a:ext cx="3564000" cy="342000"/>
          </a:xfrm>
          <a:prstGeom prst="rect">
            <a:avLst/>
          </a:prstGeom>
          <a:noFill/>
        </p:spPr>
        <p:txBody>
          <a:bodyPr wrap="square" lIns="18000" tIns="7200" rIns="18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185FA5"/>
                </a:solidFill>
                <a:latin typeface="Calibri"/>
              </a:rPr>
              <a:t>94%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261998" y="1745999"/>
            <a:ext cx="3564000" cy="180000"/>
          </a:xfrm>
          <a:prstGeom prst="rect">
            <a:avLst/>
          </a:prstGeom>
          <a:noFill/>
        </p:spPr>
        <p:txBody>
          <a:bodyPr wrap="square" lIns="18000" tIns="7200" rIns="18000" bIns="720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232323"/>
                </a:solidFill>
                <a:latin typeface="Calibri"/>
              </a:rPr>
              <a:t>Detection AUC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333999" y="1926000"/>
            <a:ext cx="3420000" cy="378000"/>
          </a:xfrm>
          <a:prstGeom prst="rect">
            <a:avLst/>
          </a:prstGeom>
          <a:noFill/>
        </p:spPr>
        <p:txBody>
          <a:bodyPr wrap="square" lIns="18000" tIns="7200" rIns="18000" bIns="720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" b="0">
                <a:solidFill>
                  <a:srgbClr val="6B6B64"/>
                </a:solidFill>
                <a:latin typeface="Calibri"/>
              </a:rPr>
              <a:t>Phase 1 ranks suspicious transactions correctly across the score range.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8261998" y="2376000"/>
            <a:ext cx="3564000" cy="972000"/>
          </a:xfrm>
          <a:prstGeom prst="roundRect">
            <a:avLst>
              <a:gd name="adj" fmla="val 5000"/>
            </a:avLst>
          </a:prstGeom>
          <a:solidFill>
            <a:srgbClr val="F4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8261998" y="2430000"/>
            <a:ext cx="3564000" cy="342000"/>
          </a:xfrm>
          <a:prstGeom prst="rect">
            <a:avLst/>
          </a:prstGeom>
          <a:noFill/>
        </p:spPr>
        <p:txBody>
          <a:bodyPr wrap="square" lIns="18000" tIns="7200" rIns="18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185FA5"/>
                </a:solidFill>
                <a:latin typeface="Calibri"/>
              </a:rPr>
              <a:t>85%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261998" y="2771999"/>
            <a:ext cx="3564000" cy="180000"/>
          </a:xfrm>
          <a:prstGeom prst="rect">
            <a:avLst/>
          </a:prstGeom>
          <a:noFill/>
        </p:spPr>
        <p:txBody>
          <a:bodyPr wrap="square" lIns="18000" tIns="7200" rIns="18000" bIns="720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232323"/>
                </a:solidFill>
                <a:latin typeface="Calibri"/>
              </a:rPr>
              <a:t>Catch rate (recall)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333999" y="2952000"/>
            <a:ext cx="3420000" cy="378000"/>
          </a:xfrm>
          <a:prstGeom prst="rect">
            <a:avLst/>
          </a:prstGeom>
          <a:noFill/>
        </p:spPr>
        <p:txBody>
          <a:bodyPr wrap="square" lIns="18000" tIns="7200" rIns="18000" bIns="720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" b="0">
                <a:solidFill>
                  <a:srgbClr val="6B6B64"/>
                </a:solidFill>
                <a:latin typeface="Calibri"/>
              </a:rPr>
              <a:t>Catches 85 of every 100 laundering transactions at the deployment threshold.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8261998" y="3402000"/>
            <a:ext cx="3564000" cy="972000"/>
          </a:xfrm>
          <a:prstGeom prst="roundRect">
            <a:avLst>
              <a:gd name="adj" fmla="val 5000"/>
            </a:avLst>
          </a:prstGeom>
          <a:solidFill>
            <a:srgbClr val="F4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9430147" y="3446835"/>
            <a:ext cx="1145501" cy="414330"/>
          </a:xfrm>
          <a:prstGeom prst="rect">
            <a:avLst/>
          </a:prstGeom>
          <a:noFill/>
        </p:spPr>
        <p:txBody>
          <a:bodyPr wrap="square" lIns="18000" tIns="7200" rIns="18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 dirty="0">
                <a:solidFill>
                  <a:srgbClr val="185FA5"/>
                </a:solidFill>
                <a:latin typeface="Calibri"/>
              </a:rPr>
              <a:t>82%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270799" y="3546000"/>
            <a:ext cx="1526400" cy="270000"/>
          </a:xfrm>
          <a:prstGeom prst="rect">
            <a:avLst/>
          </a:prstGeom>
          <a:noFill/>
        </p:spPr>
        <p:txBody>
          <a:bodyPr wrap="square" lIns="18000" tIns="7200" rIns="18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6B64"/>
                </a:solidFill>
                <a:latin typeface="Calibri"/>
              </a:rPr>
              <a:t>/ 76%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261998" y="3797999"/>
            <a:ext cx="3564000" cy="180000"/>
          </a:xfrm>
          <a:prstGeom prst="rect">
            <a:avLst/>
          </a:prstGeom>
          <a:noFill/>
        </p:spPr>
        <p:txBody>
          <a:bodyPr wrap="square" lIns="18000" tIns="7200" rIns="18000" bIns="720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232323"/>
                </a:solidFill>
                <a:latin typeface="Calibri"/>
              </a:rPr>
              <a:t>Typology accuracy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333999" y="3978000"/>
            <a:ext cx="3420000" cy="378000"/>
          </a:xfrm>
          <a:prstGeom prst="rect">
            <a:avLst/>
          </a:prstGeom>
          <a:noFill/>
        </p:spPr>
        <p:txBody>
          <a:bodyPr wrap="square" lIns="18000" tIns="7200" rIns="18000" bIns="720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" b="0">
                <a:solidFill>
                  <a:srgbClr val="6B6B64"/>
                </a:solidFill>
                <a:latin typeface="Calibri"/>
              </a:rPr>
              <a:t>82% multi-label (true typology in flagged set) · 76% primary-only.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8261998" y="4428000"/>
            <a:ext cx="3564000" cy="972000"/>
          </a:xfrm>
          <a:prstGeom prst="roundRect">
            <a:avLst>
              <a:gd name="adj" fmla="val 5000"/>
            </a:avLst>
          </a:prstGeom>
          <a:solidFill>
            <a:srgbClr val="F4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TextBox 82"/>
          <p:cNvSpPr txBox="1"/>
          <p:nvPr/>
        </p:nvSpPr>
        <p:spPr>
          <a:xfrm>
            <a:off x="8261998" y="4482000"/>
            <a:ext cx="3564000" cy="342000"/>
          </a:xfrm>
          <a:prstGeom prst="rect">
            <a:avLst/>
          </a:prstGeom>
          <a:noFill/>
        </p:spPr>
        <p:txBody>
          <a:bodyPr wrap="square" lIns="18000" tIns="7200" rIns="18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185FA5"/>
                </a:solidFill>
                <a:latin typeface="Calibri"/>
              </a:rPr>
              <a:t>10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261998" y="4823999"/>
            <a:ext cx="3564000" cy="180000"/>
          </a:xfrm>
          <a:prstGeom prst="rect">
            <a:avLst/>
          </a:prstGeom>
          <a:noFill/>
        </p:spPr>
        <p:txBody>
          <a:bodyPr wrap="square" lIns="18000" tIns="7200" rIns="18000" bIns="720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232323"/>
                </a:solidFill>
                <a:latin typeface="Calibri"/>
              </a:rPr>
              <a:t>Typologies covered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333999" y="5004000"/>
            <a:ext cx="3420000" cy="378000"/>
          </a:xfrm>
          <a:prstGeom prst="rect">
            <a:avLst/>
          </a:prstGeom>
          <a:noFill/>
        </p:spPr>
        <p:txBody>
          <a:bodyPr wrap="square" lIns="18000" tIns="7200" rIns="18000" bIns="720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" b="0">
                <a:solidFill>
                  <a:srgbClr val="6B6B64"/>
                </a:solidFill>
                <a:latin typeface="Calibri"/>
              </a:rPr>
              <a:t>Structuring, layering, mule, hawala, charity abuse, corridor, funnel, pass-through, third-party, circular.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8279998" y="5615314"/>
            <a:ext cx="3564000" cy="251999"/>
          </a:xfrm>
          <a:prstGeom prst="roundRect">
            <a:avLst>
              <a:gd name="adj" fmla="val 10000"/>
            </a:avLst>
          </a:prstGeom>
          <a:solidFill>
            <a:srgbClr val="E1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/>
          <p:cNvSpPr txBox="1"/>
          <p:nvPr/>
        </p:nvSpPr>
        <p:spPr>
          <a:xfrm>
            <a:off x="8333999" y="5615314"/>
            <a:ext cx="3456000" cy="251999"/>
          </a:xfrm>
          <a:prstGeom prst="rect">
            <a:avLst/>
          </a:prstGeom>
          <a:noFill/>
        </p:spPr>
        <p:txBody>
          <a:bodyPr wrap="square" lIns="18000" tIns="7200" rIns="18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0F6E56"/>
                </a:solidFill>
                <a:latin typeface="Calibri"/>
              </a:rPr>
              <a:t>✓  4–8× improvement in alert quality</a:t>
            </a:r>
          </a:p>
        </p:txBody>
      </p:sp>
      <p:sp>
        <p:nvSpPr>
          <p:cNvPr id="88" name="Rectangle 87"/>
          <p:cNvSpPr/>
          <p:nvPr/>
        </p:nvSpPr>
        <p:spPr>
          <a:xfrm>
            <a:off x="0" y="6282000"/>
            <a:ext cx="12240000" cy="917999"/>
          </a:xfrm>
          <a:prstGeom prst="rect">
            <a:avLst/>
          </a:prstGeom>
          <a:solidFill>
            <a:srgbClr val="0F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Rounded Rectangle 88"/>
          <p:cNvSpPr/>
          <p:nvPr/>
        </p:nvSpPr>
        <p:spPr>
          <a:xfrm>
            <a:off x="216000" y="6533999"/>
            <a:ext cx="396000" cy="396000"/>
          </a:xfrm>
          <a:prstGeom prst="roundRect">
            <a:avLst>
              <a:gd name="adj" fmla="val 15000"/>
            </a:avLst>
          </a:prstGeom>
          <a:solidFill>
            <a:srgbClr val="1A39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/>
          <p:cNvSpPr txBox="1"/>
          <p:nvPr/>
        </p:nvSpPr>
        <p:spPr>
          <a:xfrm>
            <a:off x="216000" y="6533999"/>
            <a:ext cx="396000" cy="396000"/>
          </a:xfrm>
          <a:prstGeom prst="rect">
            <a:avLst/>
          </a:prstGeom>
          <a:noFill/>
        </p:spPr>
        <p:txBody>
          <a:bodyPr wrap="square" lIns="18000" tIns="7200" rIns="18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5DCAA5"/>
                </a:solidFill>
                <a:latin typeface="Calibri"/>
              </a:rPr>
              <a:t>🔔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19999" y="6533999"/>
            <a:ext cx="2412000" cy="216000"/>
          </a:xfrm>
          <a:prstGeom prst="rect">
            <a:avLst/>
          </a:prstGeom>
          <a:noFill/>
        </p:spPr>
        <p:txBody>
          <a:bodyPr wrap="square" lIns="18000" tIns="7200" rIns="18000" bIns="7200" anchor="b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Calibri"/>
              </a:rPr>
              <a:t>Higher-quality alerts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19999" y="6750000"/>
            <a:ext cx="2412000" cy="216000"/>
          </a:xfrm>
          <a:prstGeom prst="rect">
            <a:avLst/>
          </a:prstGeom>
          <a:noFill/>
        </p:spPr>
        <p:txBody>
          <a:bodyPr wrap="square" lIns="18000" tIns="7200" rIns="18000" bIns="72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9FBBD4"/>
                </a:solidFill>
                <a:latin typeface="Calibri"/>
              </a:rPr>
              <a:t>Less analyst fatigue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3276000" y="6533999"/>
            <a:ext cx="396000" cy="396000"/>
          </a:xfrm>
          <a:prstGeom prst="roundRect">
            <a:avLst>
              <a:gd name="adj" fmla="val 15000"/>
            </a:avLst>
          </a:prstGeom>
          <a:solidFill>
            <a:srgbClr val="1A39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TextBox 93"/>
          <p:cNvSpPr txBox="1"/>
          <p:nvPr/>
        </p:nvSpPr>
        <p:spPr>
          <a:xfrm>
            <a:off x="3276000" y="6533999"/>
            <a:ext cx="396000" cy="396000"/>
          </a:xfrm>
          <a:prstGeom prst="rect">
            <a:avLst/>
          </a:prstGeom>
          <a:noFill/>
        </p:spPr>
        <p:txBody>
          <a:bodyPr wrap="square" lIns="18000" tIns="7200" rIns="18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5DCAA5"/>
                </a:solidFill>
                <a:latin typeface="Calibri"/>
              </a:rPr>
              <a:t>🔍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779999" y="6533999"/>
            <a:ext cx="2412000" cy="216000"/>
          </a:xfrm>
          <a:prstGeom prst="rect">
            <a:avLst/>
          </a:prstGeom>
          <a:noFill/>
        </p:spPr>
        <p:txBody>
          <a:bodyPr wrap="square" lIns="18000" tIns="7200" rIns="18000" bIns="7200" anchor="b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Calibri"/>
              </a:rPr>
              <a:t>Faster investigations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779999" y="6750000"/>
            <a:ext cx="2412000" cy="216000"/>
          </a:xfrm>
          <a:prstGeom prst="rect">
            <a:avLst/>
          </a:prstGeom>
          <a:noFill/>
        </p:spPr>
        <p:txBody>
          <a:bodyPr wrap="square" lIns="18000" tIns="7200" rIns="18000" bIns="72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9FBBD4"/>
                </a:solidFill>
                <a:latin typeface="Calibri"/>
              </a:rPr>
              <a:t>Auto-classified typologies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6336000" y="6533999"/>
            <a:ext cx="396000" cy="396000"/>
          </a:xfrm>
          <a:prstGeom prst="roundRect">
            <a:avLst>
              <a:gd name="adj" fmla="val 15000"/>
            </a:avLst>
          </a:prstGeom>
          <a:solidFill>
            <a:srgbClr val="1A39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TextBox 97"/>
          <p:cNvSpPr txBox="1"/>
          <p:nvPr/>
        </p:nvSpPr>
        <p:spPr>
          <a:xfrm>
            <a:off x="6336000" y="6533999"/>
            <a:ext cx="396000" cy="396000"/>
          </a:xfrm>
          <a:prstGeom prst="rect">
            <a:avLst/>
          </a:prstGeom>
          <a:noFill/>
        </p:spPr>
        <p:txBody>
          <a:bodyPr wrap="square" lIns="18000" tIns="7200" rIns="18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5DCAA5"/>
                </a:solidFill>
                <a:latin typeface="Calibri"/>
              </a:rPr>
              <a:t>🛡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839999" y="6533999"/>
            <a:ext cx="2412000" cy="216000"/>
          </a:xfrm>
          <a:prstGeom prst="rect">
            <a:avLst/>
          </a:prstGeom>
          <a:noFill/>
        </p:spPr>
        <p:txBody>
          <a:bodyPr wrap="square" lIns="18000" tIns="7200" rIns="18000" bIns="7200" anchor="b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Calibri"/>
              </a:rPr>
              <a:t>Better prioritisation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839999" y="6750000"/>
            <a:ext cx="2412000" cy="216000"/>
          </a:xfrm>
          <a:prstGeom prst="rect">
            <a:avLst/>
          </a:prstGeom>
          <a:noFill/>
        </p:spPr>
        <p:txBody>
          <a:bodyPr wrap="square" lIns="18000" tIns="7200" rIns="18000" bIns="72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9FBBD4"/>
                </a:solidFill>
                <a:latin typeface="Calibri"/>
              </a:rPr>
              <a:t>Risk scoring &amp; confidence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9396000" y="6533999"/>
            <a:ext cx="396000" cy="396000"/>
          </a:xfrm>
          <a:prstGeom prst="roundRect">
            <a:avLst>
              <a:gd name="adj" fmla="val 15000"/>
            </a:avLst>
          </a:prstGeom>
          <a:solidFill>
            <a:srgbClr val="1A39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TextBox 101"/>
          <p:cNvSpPr txBox="1"/>
          <p:nvPr/>
        </p:nvSpPr>
        <p:spPr>
          <a:xfrm>
            <a:off x="9396000" y="6533999"/>
            <a:ext cx="396000" cy="396000"/>
          </a:xfrm>
          <a:prstGeom prst="rect">
            <a:avLst/>
          </a:prstGeom>
          <a:noFill/>
        </p:spPr>
        <p:txBody>
          <a:bodyPr wrap="square" lIns="18000" tIns="7200" rIns="18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5DCAA5"/>
                </a:solidFill>
                <a:latin typeface="Calibri"/>
              </a:rPr>
              <a:t>📋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899999" y="6533999"/>
            <a:ext cx="2412000" cy="216000"/>
          </a:xfrm>
          <a:prstGeom prst="rect">
            <a:avLst/>
          </a:prstGeom>
          <a:noFill/>
        </p:spPr>
        <p:txBody>
          <a:bodyPr wrap="square" lIns="18000" tIns="7200" rIns="18000" bIns="7200" anchor="b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Calibri"/>
              </a:rPr>
              <a:t>Stronger compliance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899999" y="6750000"/>
            <a:ext cx="2412000" cy="216000"/>
          </a:xfrm>
          <a:prstGeom prst="rect">
            <a:avLst/>
          </a:prstGeom>
          <a:noFill/>
        </p:spPr>
        <p:txBody>
          <a:bodyPr wrap="square" lIns="18000" tIns="7200" rIns="18000" bIns="72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9FBBD4"/>
                </a:solidFill>
                <a:latin typeface="Calibri"/>
              </a:rPr>
              <a:t>Regulatory readiness</a:t>
            </a:r>
          </a:p>
        </p:txBody>
      </p:sp>
      <p:sp>
        <p:nvSpPr>
          <p:cNvPr id="107" name="Rounded Rectangle 26">
            <a:extLst>
              <a:ext uri="{FF2B5EF4-FFF2-40B4-BE49-F238E27FC236}">
                <a16:creationId xmlns:a16="http://schemas.microsoft.com/office/drawing/2014/main" id="{0A69AF29-7D87-07EF-B5FD-94DC8010EE02}"/>
              </a:ext>
            </a:extLst>
          </p:cNvPr>
          <p:cNvSpPr/>
          <p:nvPr/>
        </p:nvSpPr>
        <p:spPr>
          <a:xfrm>
            <a:off x="5074766" y="1332000"/>
            <a:ext cx="793698" cy="198000"/>
          </a:xfrm>
          <a:prstGeom prst="roundRect">
            <a:avLst>
              <a:gd name="adj" fmla="val 50000"/>
            </a:avLst>
          </a:prstGeom>
          <a:solidFill>
            <a:srgbClr val="E6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000" tIns="7200" rIns="36000" bIns="7200" rtlCol="0" anchor="ctr"/>
          <a:lstStyle/>
          <a:p>
            <a:pPr algn="ctr"/>
            <a:r>
              <a:rPr sz="800" b="1">
                <a:solidFill>
                  <a:srgbClr val="0C447C"/>
                </a:solidFill>
                <a:latin typeface="Calibri"/>
              </a:rPr>
              <a:t>200+ features</a:t>
            </a:r>
          </a:p>
        </p:txBody>
      </p:sp>
      <p:sp>
        <p:nvSpPr>
          <p:cNvPr id="109" name="Rounded Rectangle 28">
            <a:extLst>
              <a:ext uri="{FF2B5EF4-FFF2-40B4-BE49-F238E27FC236}">
                <a16:creationId xmlns:a16="http://schemas.microsoft.com/office/drawing/2014/main" id="{D791008A-F393-B031-6F6A-0A6DDC6D07AE}"/>
              </a:ext>
            </a:extLst>
          </p:cNvPr>
          <p:cNvSpPr/>
          <p:nvPr/>
        </p:nvSpPr>
        <p:spPr>
          <a:xfrm>
            <a:off x="7010998" y="1332000"/>
            <a:ext cx="913803" cy="198000"/>
          </a:xfrm>
          <a:prstGeom prst="roundRect">
            <a:avLst>
              <a:gd name="adj" fmla="val 50000"/>
            </a:avLst>
          </a:prstGeom>
          <a:solidFill>
            <a:srgbClr val="E6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000" tIns="7200" rIns="36000" bIns="7200" rtlCol="0" anchor="ctr"/>
          <a:lstStyle/>
          <a:p>
            <a:pPr algn="ctr"/>
            <a:r>
              <a:rPr sz="800" b="1" dirty="0">
                <a:solidFill>
                  <a:srgbClr val="0C447C"/>
                </a:solidFill>
                <a:latin typeface="Calibri"/>
              </a:rPr>
              <a:t>Multi-label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382</Words>
  <Application>Microsoft Office PowerPoint</Application>
  <PresentationFormat>Custom</PresentationFormat>
  <Paragraphs>75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Segoe UI Symbol</vt:lpstr>
      <vt:lpstr>Office Theme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VISHNUPRIYA</dc:creator>
  <cp:keywords/>
  <dc:description>generated using python-pptx</dc:description>
  <cp:lastModifiedBy>917036180999</cp:lastModifiedBy>
  <cp:revision>2</cp:revision>
  <dcterms:created xsi:type="dcterms:W3CDTF">2013-01-27T09:14:16Z</dcterms:created>
  <dcterms:modified xsi:type="dcterms:W3CDTF">2026-05-06T11:48:23Z</dcterms:modified>
  <cp:category/>
</cp:coreProperties>
</file>