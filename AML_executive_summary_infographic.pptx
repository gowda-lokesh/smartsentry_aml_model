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239625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917036180999" userId="fc4bd521ffc22738" providerId="LiveId" clId="{5831FDA1-5D2E-45A0-813F-14BEC29C986F}"/>
    <pc:docChg chg="modSld">
      <pc:chgData name="917036180999" userId="fc4bd521ffc22738" providerId="LiveId" clId="{5831FDA1-5D2E-45A0-813F-14BEC29C986F}" dt="2026-05-07T12:25:20.574" v="13" actId="20577"/>
      <pc:docMkLst>
        <pc:docMk/>
      </pc:docMkLst>
      <pc:sldChg chg="modSp mod">
        <pc:chgData name="917036180999" userId="fc4bd521ffc22738" providerId="LiveId" clId="{5831FDA1-5D2E-45A0-813F-14BEC29C986F}" dt="2026-05-07T12:25:20.574" v="13" actId="20577"/>
        <pc:sldMkLst>
          <pc:docMk/>
          <pc:sldMk cId="0" sldId="256"/>
        </pc:sldMkLst>
        <pc:spChg chg="mod">
          <ac:chgData name="917036180999" userId="fc4bd521ffc22738" providerId="LiveId" clId="{5831FDA1-5D2E-45A0-813F-14BEC29C986F}" dt="2026-05-07T12:25:20.574" v="13" actId="20577"/>
          <ac:spMkLst>
            <pc:docMk/>
            <pc:sldMk cId="0" sldId="256"/>
            <ac:spMk id="4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700" y="-108686"/>
            <a:ext cx="12240000" cy="7200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240000" cy="792000"/>
          </a:xfrm>
          <a:prstGeom prst="rect">
            <a:avLst/>
          </a:prstGeom>
          <a:solidFill>
            <a:srgbClr val="0F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000" y="125999"/>
            <a:ext cx="7200000" cy="360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SmartSentry 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450000"/>
            <a:ext cx="7200000" cy="251999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FBBD4"/>
                </a:solidFill>
                <a:latin typeface="Calibri"/>
              </a:rPr>
              <a:t>AI-powered anti-money laundering detection &amp; classification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44000" y="234000"/>
            <a:ext cx="576000" cy="216000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7200" rIns="36000" bIns="72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4000" y="234000"/>
            <a:ext cx="792000" cy="216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FBBD4"/>
                </a:solidFill>
                <a:latin typeface="Calibri"/>
              </a:rPr>
              <a:t>May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000" y="882000"/>
            <a:ext cx="3816000" cy="529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4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5999" y="990000"/>
            <a:ext cx="251999" cy="251999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854F0B"/>
                </a:solidFill>
                <a:latin typeface="Segoe UI Symbol"/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992127"/>
            <a:ext cx="3347998" cy="247746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232323"/>
                </a:solidFill>
                <a:latin typeface="Calibri"/>
              </a:rPr>
              <a:t>Why current </a:t>
            </a:r>
            <a:r>
              <a:rPr lang="en-IN" sz="1400" b="1" dirty="0">
                <a:solidFill>
                  <a:srgbClr val="232323"/>
                </a:solidFill>
                <a:latin typeface="Calibri"/>
              </a:rPr>
              <a:t>rule based </a:t>
            </a:r>
            <a:r>
              <a:rPr sz="1400" b="1" dirty="0">
                <a:solidFill>
                  <a:srgbClr val="232323"/>
                </a:solidFill>
                <a:latin typeface="Calibri"/>
              </a:rPr>
              <a:t>AML monitoring fails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999" y="1332000"/>
            <a:ext cx="3564000" cy="1044000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6000" y="1396800"/>
            <a:ext cx="3384000" cy="216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54F0B"/>
                </a:solidFill>
                <a:latin typeface="Calibri"/>
              </a:rPr>
              <a:t>90–95% false positives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1638000"/>
            <a:ext cx="3384000" cy="720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33806"/>
                </a:solidFill>
                <a:latin typeface="Calibri"/>
              </a:rPr>
              <a:t>Teams waste time investigating noise instead of genuine suspicious activity.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5999" y="2484000"/>
            <a:ext cx="3564000" cy="1044000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6000" y="2548800"/>
            <a:ext cx="3384000" cy="216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54F0B"/>
                </a:solidFill>
                <a:latin typeface="Calibri"/>
              </a:rPr>
              <a:t>Complex laundering missed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" y="2790000"/>
            <a:ext cx="3384000" cy="720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33806"/>
                </a:solidFill>
                <a:latin typeface="Calibri"/>
              </a:rPr>
              <a:t>Static rules struggle with layering, loops, mule networks and hawala-style corridors.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5999" y="3636000"/>
            <a:ext cx="3564000" cy="1044000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6000" y="3700800"/>
            <a:ext cx="3384000" cy="216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54F0B"/>
                </a:solidFill>
                <a:latin typeface="Calibri"/>
              </a:rPr>
              <a:t>Single-label blind spot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000" y="3942000"/>
            <a:ext cx="3384000" cy="720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33806"/>
                </a:solidFill>
                <a:latin typeface="Calibri"/>
              </a:rPr>
              <a:t>Conventional systems force one label per case, missing transactions that fit multiple typologies.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5999" y="4788000"/>
            <a:ext cx="3564000" cy="1044000"/>
          </a:xfrm>
          <a:prstGeom prst="roundRect">
            <a:avLst>
              <a:gd name="adj" fmla="val 5000"/>
            </a:avLst>
          </a:prstGeom>
          <a:solidFill>
            <a:srgbClr val="FA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6000" y="4852800"/>
            <a:ext cx="3384000" cy="216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854F0B"/>
                </a:solidFill>
                <a:latin typeface="Calibri"/>
              </a:rPr>
              <a:t>Regulatory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" y="5094000"/>
            <a:ext cx="3384000" cy="720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33806"/>
                </a:solidFill>
                <a:latin typeface="Calibri"/>
              </a:rPr>
              <a:t>Rising compliance risk with static monitoring systems and audit-incomplete trails.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57999" y="882000"/>
            <a:ext cx="3816000" cy="529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4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283998" y="990000"/>
            <a:ext cx="251999" cy="251999"/>
          </a:xfrm>
          <a:prstGeom prst="roundRect">
            <a:avLst>
              <a:gd name="adj" fmla="val 25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C447C"/>
                </a:solidFill>
                <a:latin typeface="Segoe UI Symbol"/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9999" y="990000"/>
            <a:ext cx="3060000" cy="251999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232323"/>
                </a:solidFill>
                <a:latin typeface="Calibri"/>
              </a:rPr>
              <a:t>How </a:t>
            </a:r>
            <a:r>
              <a:rPr sz="1400" b="1" dirty="0" err="1">
                <a:solidFill>
                  <a:srgbClr val="232323"/>
                </a:solidFill>
                <a:latin typeface="Calibri"/>
              </a:rPr>
              <a:t>SmartSentry</a:t>
            </a:r>
            <a:r>
              <a:rPr sz="1400" b="1" dirty="0">
                <a:solidFill>
                  <a:srgbClr val="232323"/>
                </a:solidFill>
                <a:latin typeface="Calibri"/>
              </a:rPr>
              <a:t> AML works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3998" y="1332000"/>
            <a:ext cx="618202" cy="198000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7200" rIns="36000" bIns="7200" rtlCol="0" anchor="ctr"/>
          <a:lstStyle/>
          <a:p>
            <a:pPr algn="ctr"/>
            <a:r>
              <a:rPr sz="800" b="1" dirty="0">
                <a:solidFill>
                  <a:srgbClr val="0C447C"/>
                </a:solidFill>
                <a:latin typeface="Calibri"/>
              </a:rPr>
              <a:t>126 rules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19199" y="1332000"/>
            <a:ext cx="793698" cy="198000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7200" rIns="36000" bIns="7200" rtlCol="0" anchor="ctr"/>
          <a:lstStyle/>
          <a:p>
            <a:pPr algn="ctr"/>
            <a:r>
              <a:rPr sz="800" b="1">
                <a:solidFill>
                  <a:srgbClr val="0C447C"/>
                </a:solidFill>
                <a:latin typeface="Calibri"/>
              </a:rPr>
              <a:t>200+ 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41030" y="1332000"/>
            <a:ext cx="797401" cy="198000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7200" rIns="36000" bIns="7200" rtlCol="0" anchor="ctr"/>
          <a:lstStyle/>
          <a:p>
            <a:pPr algn="ctr"/>
            <a:r>
              <a:rPr sz="800" b="1" dirty="0">
                <a:solidFill>
                  <a:srgbClr val="0C447C"/>
                </a:solidFill>
                <a:latin typeface="Calibri"/>
              </a:rPr>
              <a:t>10 typologies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10998" y="1332000"/>
            <a:ext cx="913803" cy="198000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7200" rIns="36000" bIns="7200" rtlCol="0" anchor="ctr"/>
          <a:lstStyle/>
          <a:p>
            <a:pPr algn="ctr"/>
            <a:r>
              <a:rPr sz="800" b="1" dirty="0">
                <a:solidFill>
                  <a:srgbClr val="0C447C"/>
                </a:solidFill>
                <a:latin typeface="Calibri"/>
              </a:rPr>
              <a:t>Multi-label 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3998" y="1602000"/>
            <a:ext cx="837000" cy="3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5D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83998" y="1656000"/>
            <a:ext cx="837000" cy="162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0C447C"/>
                </a:solidFill>
                <a:latin typeface="Calibri"/>
              </a:rPr>
              <a:t>Transaction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83998" y="1818000"/>
            <a:ext cx="837000" cy="162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185FA5"/>
                </a:solidFill>
                <a:latin typeface="Calibri"/>
              </a:rPr>
              <a:t>Ingest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998" y="1602000"/>
            <a:ext cx="72000" cy="396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B5D4F4"/>
                </a:solidFill>
                <a:latin typeface="Calibr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92998" y="1602000"/>
            <a:ext cx="837000" cy="3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5D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92998" y="1656000"/>
            <a:ext cx="837000" cy="162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0C447C"/>
                </a:solidFill>
                <a:latin typeface="Calibri"/>
              </a:rPr>
              <a:t>126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2998" y="1818000"/>
            <a:ext cx="837000" cy="162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185FA5"/>
                </a:solidFill>
                <a:latin typeface="Calibri"/>
              </a:rPr>
              <a:t>Scan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29998" y="1602000"/>
            <a:ext cx="72000" cy="396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B5D4F4"/>
                </a:solidFill>
                <a:latin typeface="Calibri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01998" y="1602000"/>
            <a:ext cx="837000" cy="3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5D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01998" y="1656000"/>
            <a:ext cx="837000" cy="162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0C447C"/>
                </a:solidFill>
                <a:latin typeface="Calibri"/>
              </a:rPr>
              <a:t>200+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1998" y="1818000"/>
            <a:ext cx="837000" cy="162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185FA5"/>
                </a:solidFill>
                <a:latin typeface="Calibri"/>
              </a:rPr>
              <a:t>Engineer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8998" y="1602000"/>
            <a:ext cx="72000" cy="396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B5D4F4"/>
                </a:solidFill>
                <a:latin typeface="Calibri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10998" y="1602000"/>
            <a:ext cx="837000" cy="39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5D4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10998" y="1656000"/>
            <a:ext cx="837000" cy="162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0C447C"/>
                </a:solidFill>
                <a:latin typeface="Calibri"/>
              </a:rPr>
              <a:t>Detection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0998" y="1818000"/>
            <a:ext cx="837000" cy="162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>
                <a:solidFill>
                  <a:srgbClr val="185FA5"/>
                </a:solidFill>
                <a:latin typeface="Calibri"/>
              </a:rPr>
              <a:t>Score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DFD7DC9-DAF7-9853-7D5A-EC8D09CDAFAC}"/>
              </a:ext>
            </a:extLst>
          </p:cNvPr>
          <p:cNvGrpSpPr/>
          <p:nvPr/>
        </p:nvGrpSpPr>
        <p:grpSpPr>
          <a:xfrm>
            <a:off x="4283998" y="2056250"/>
            <a:ext cx="3564000" cy="1314000"/>
            <a:chOff x="4283998" y="2088000"/>
            <a:chExt cx="3564000" cy="1314000"/>
          </a:xfrm>
        </p:grpSpPr>
        <p:sp>
          <p:nvSpPr>
            <p:cNvPr id="45" name="Rounded Rectangle 44"/>
            <p:cNvSpPr/>
            <p:nvPr/>
          </p:nvSpPr>
          <p:spPr>
            <a:xfrm>
              <a:off x="4283998" y="2088000"/>
              <a:ext cx="3564000" cy="558000"/>
            </a:xfrm>
            <a:prstGeom prst="roundRect">
              <a:avLst>
                <a:gd name="adj" fmla="val 5000"/>
              </a:avLst>
            </a:prstGeom>
            <a:solidFill>
              <a:srgbClr val="E1F5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355999" y="2142000"/>
              <a:ext cx="3420000" cy="180000"/>
            </a:xfrm>
            <a:prstGeom prst="rect">
              <a:avLst/>
            </a:prstGeom>
            <a:noFill/>
          </p:spPr>
          <p:txBody>
            <a:bodyPr wrap="square" lIns="18000" tIns="7200" rIns="18000" bIns="720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000" b="1" dirty="0">
                  <a:solidFill>
                    <a:srgbClr val="0F6E56"/>
                  </a:solidFill>
                  <a:latin typeface="Calibri"/>
                </a:rPr>
                <a:t>🤖  Phase 1: AML detection — </a:t>
              </a:r>
              <a:r>
                <a:rPr lang="en-IN" sz="1000" b="1" dirty="0">
                  <a:solidFill>
                    <a:srgbClr val="0F6E56"/>
                  </a:solidFill>
                  <a:latin typeface="Calibri"/>
                </a:rPr>
                <a:t>85% Recall</a:t>
              </a:r>
              <a:endParaRPr sz="1000" b="1" dirty="0">
                <a:solidFill>
                  <a:srgbClr val="0F6E56"/>
                </a:solidFill>
                <a:latin typeface="Calibri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355999" y="2322000"/>
              <a:ext cx="3420000" cy="329499"/>
            </a:xfrm>
            <a:prstGeom prst="rect">
              <a:avLst/>
            </a:prstGeom>
            <a:noFill/>
          </p:spPr>
          <p:txBody>
            <a:bodyPr wrap="square" lIns="18000" tIns="7200" rIns="18000" bIns="7200" anchor="t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850" b="0" dirty="0">
                  <a:solidFill>
                    <a:srgbClr val="085041"/>
                  </a:solidFill>
                  <a:latin typeface="Calibri"/>
                </a:rPr>
                <a:t>Binary </a:t>
              </a:r>
              <a:r>
                <a:rPr sz="850" b="0" dirty="0" err="1">
                  <a:solidFill>
                    <a:srgbClr val="085041"/>
                  </a:solidFill>
                  <a:latin typeface="Calibri"/>
                </a:rPr>
                <a:t>LightGBM</a:t>
              </a:r>
              <a:r>
                <a:rPr sz="850" b="0" dirty="0">
                  <a:solidFill>
                    <a:srgbClr val="085041"/>
                  </a:solidFill>
                  <a:latin typeface="Calibri"/>
                </a:rPr>
                <a:t> model identifies suspicious transactions using behavioral, account, velocity, device and risk signals.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4283998" y="2682000"/>
              <a:ext cx="3564000" cy="720000"/>
            </a:xfrm>
            <a:prstGeom prst="roundRect">
              <a:avLst>
                <a:gd name="adj" fmla="val 5000"/>
              </a:avLst>
            </a:prstGeom>
            <a:solidFill>
              <a:srgbClr val="E1F5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355999" y="2736000"/>
              <a:ext cx="3420000" cy="180000"/>
            </a:xfrm>
            <a:prstGeom prst="rect">
              <a:avLst/>
            </a:prstGeom>
            <a:noFill/>
          </p:spPr>
          <p:txBody>
            <a:bodyPr wrap="square" lIns="18000" tIns="7200" rIns="18000" bIns="720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000" b="1" dirty="0">
                  <a:solidFill>
                    <a:srgbClr val="0F6E56"/>
                  </a:solidFill>
                  <a:latin typeface="Calibri"/>
                </a:rPr>
                <a:t>🧬  Phase 2: Multi-label typology ID — 82% </a:t>
              </a:r>
              <a:r>
                <a:rPr lang="en-IN" sz="1000" b="1" dirty="0">
                  <a:solidFill>
                    <a:srgbClr val="0F6E56"/>
                  </a:solidFill>
                  <a:latin typeface="Calibri"/>
                </a:rPr>
                <a:t>Accuracy</a:t>
              </a:r>
              <a:endParaRPr sz="1000" b="1" dirty="0">
                <a:solidFill>
                  <a:srgbClr val="0F6E56"/>
                </a:solidFill>
                <a:latin typeface="Calibri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355999" y="2916000"/>
              <a:ext cx="3420000" cy="378000"/>
            </a:xfrm>
            <a:prstGeom prst="rect">
              <a:avLst/>
            </a:prstGeom>
            <a:noFill/>
          </p:spPr>
          <p:txBody>
            <a:bodyPr wrap="square" lIns="18000" tIns="7200" rIns="18000" bIns="7200" anchor="t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850" b="0">
                  <a:solidFill>
                    <a:srgbClr val="085041"/>
                  </a:solidFill>
                  <a:latin typeface="Calibri"/>
                </a:rPr>
                <a:t>Classifies flagged activity across 10 FATF-recognised laundering typologies. Flags every typology above 30% probability so layered cases get every relevant tag.</a:t>
              </a:r>
            </a:p>
          </p:txBody>
        </p:sp>
      </p:grpSp>
      <p:sp>
        <p:nvSpPr>
          <p:cNvPr id="51" name="Rounded Rectangle 50"/>
          <p:cNvSpPr/>
          <p:nvPr/>
        </p:nvSpPr>
        <p:spPr>
          <a:xfrm>
            <a:off x="4296698" y="3438000"/>
            <a:ext cx="3564000" cy="2700000"/>
          </a:xfrm>
          <a:prstGeom prst="roundRect">
            <a:avLst>
              <a:gd name="adj" fmla="val 5000"/>
            </a:avLst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68699" y="3492000"/>
            <a:ext cx="2340000" cy="162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32323"/>
                </a:solidFill>
                <a:latin typeface="Calibri"/>
              </a:rPr>
              <a:t>AI-powered Risk Intelligence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2551" y="3492000"/>
            <a:ext cx="1374148" cy="147847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dirty="0">
                <a:solidFill>
                  <a:srgbClr val="6B6B64"/>
                </a:solidFill>
                <a:latin typeface="Calibri"/>
              </a:rPr>
              <a:t>390K+ training transactions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68699" y="3708000"/>
            <a:ext cx="3420000" cy="56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440699" y="3751200"/>
            <a:ext cx="3276000" cy="1512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C447C"/>
                </a:solidFill>
                <a:latin typeface="Calibri"/>
              </a:rPr>
              <a:t>Pattern learning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40699" y="3895200"/>
            <a:ext cx="3276000" cy="3465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B6B64"/>
                </a:solidFill>
                <a:latin typeface="Calibri"/>
              </a:rPr>
              <a:t>Learns laundering signatures from labelled scenarios across all 10 typologies, beyond fixed rule combinations.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68699" y="4306500"/>
            <a:ext cx="3420000" cy="56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40699" y="4349700"/>
            <a:ext cx="3276000" cy="1512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C447C"/>
                </a:solidFill>
                <a:latin typeface="Calibri"/>
              </a:rPr>
              <a:t>Anomaly detection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40699" y="4493700"/>
            <a:ext cx="3276000" cy="3465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B6B64"/>
                </a:solidFill>
                <a:latin typeface="Calibri"/>
              </a:rPr>
              <a:t>Surfaces transactions whose velocity, balance or counterparty profile breaks from a customer's own baseline.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68699" y="4905000"/>
            <a:ext cx="3420000" cy="56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440699" y="4948200"/>
            <a:ext cx="3276000" cy="1512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C447C"/>
                </a:solidFill>
                <a:latin typeface="Calibri"/>
              </a:rPr>
              <a:t>Rare pattern detection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0699" y="5092200"/>
            <a:ext cx="3276000" cy="3465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B6B64"/>
                </a:solidFill>
                <a:latin typeface="Calibri"/>
              </a:rPr>
              <a:t>Inverse-frequency class weighting (up to 2.5×) keeps low-volume typologies like Hawala from being absorbed by Funnel/Layering.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68699" y="5503500"/>
            <a:ext cx="3420000" cy="56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4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440699" y="5546700"/>
            <a:ext cx="3276000" cy="1512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C447C"/>
                </a:solidFill>
                <a:latin typeface="Calibri"/>
              </a:rPr>
              <a:t>Explainable AI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40699" y="5690700"/>
            <a:ext cx="3276000" cy="3465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B6B64"/>
                </a:solidFill>
                <a:latin typeface="Calibri"/>
              </a:rPr>
              <a:t>Every alert ships with the typology name, confidence, the specific rules that fired and a plain-English narrative.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35999" y="882000"/>
            <a:ext cx="3816000" cy="529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4E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261998" y="990000"/>
            <a:ext cx="251999" cy="251999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F6E56"/>
                </a:solidFill>
                <a:latin typeface="Segoe UI Symbol"/>
              </a:rPr>
              <a:t>📊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67999" y="990000"/>
            <a:ext cx="3060000" cy="251999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232323"/>
                </a:solidFill>
                <a:latin typeface="Calibri"/>
              </a:rPr>
              <a:t>Performance metrics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61998" y="1350000"/>
            <a:ext cx="3564000" cy="972000"/>
          </a:xfrm>
          <a:prstGeom prst="roundRect">
            <a:avLst>
              <a:gd name="adj" fmla="val 5000"/>
            </a:avLst>
          </a:prstGeom>
          <a:solidFill>
            <a:srgbClr val="F4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61998" y="1404000"/>
            <a:ext cx="3564000" cy="342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85FA5"/>
                </a:solidFill>
                <a:latin typeface="Calibri"/>
              </a:rPr>
              <a:t>94%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61998" y="1745999"/>
            <a:ext cx="3564000" cy="180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323"/>
                </a:solidFill>
                <a:latin typeface="Calibri"/>
              </a:rPr>
              <a:t>Detection AUC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33999" y="1926000"/>
            <a:ext cx="3420000" cy="378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6B6B64"/>
                </a:solidFill>
                <a:latin typeface="Calibri"/>
              </a:rPr>
              <a:t>Phase 1 ranks suspicious transactions correctly across the score range.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61998" y="2376000"/>
            <a:ext cx="3564000" cy="972000"/>
          </a:xfrm>
          <a:prstGeom prst="roundRect">
            <a:avLst>
              <a:gd name="adj" fmla="val 5000"/>
            </a:avLst>
          </a:prstGeom>
          <a:solidFill>
            <a:srgbClr val="F4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261998" y="2430000"/>
            <a:ext cx="3564000" cy="342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85FA5"/>
                </a:solidFill>
                <a:latin typeface="Calibri"/>
              </a:rPr>
              <a:t>85%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61998" y="2771999"/>
            <a:ext cx="3564000" cy="180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323"/>
                </a:solidFill>
                <a:latin typeface="Calibri"/>
              </a:rPr>
              <a:t>Catch rate (recall)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33999" y="2952000"/>
            <a:ext cx="3420000" cy="378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6B6B64"/>
                </a:solidFill>
                <a:latin typeface="Calibri"/>
              </a:rPr>
              <a:t>Catches 85 of every 100 laundering transactions at the deployment threshold.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61998" y="3402000"/>
            <a:ext cx="3564000" cy="972000"/>
          </a:xfrm>
          <a:prstGeom prst="roundRect">
            <a:avLst>
              <a:gd name="adj" fmla="val 5000"/>
            </a:avLst>
          </a:prstGeom>
          <a:solidFill>
            <a:srgbClr val="F4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430147" y="3446835"/>
            <a:ext cx="1145501" cy="41433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dirty="0">
                <a:solidFill>
                  <a:srgbClr val="185FA5"/>
                </a:solidFill>
                <a:latin typeface="Calibri"/>
              </a:rPr>
              <a:t>82%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70799" y="3546000"/>
            <a:ext cx="1526400" cy="270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4"/>
                </a:solidFill>
                <a:latin typeface="Calibri"/>
              </a:rPr>
              <a:t>/ 76%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61998" y="3797999"/>
            <a:ext cx="3564000" cy="180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323"/>
                </a:solidFill>
                <a:latin typeface="Calibri"/>
              </a:rPr>
              <a:t>Typology accuracy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33999" y="3978000"/>
            <a:ext cx="3420000" cy="378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6B6B64"/>
                </a:solidFill>
                <a:latin typeface="Calibri"/>
              </a:rPr>
              <a:t>82% multi-label (true typology in flagged set) · 76% primary-only.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61998" y="4428000"/>
            <a:ext cx="3564000" cy="972000"/>
          </a:xfrm>
          <a:prstGeom prst="roundRect">
            <a:avLst>
              <a:gd name="adj" fmla="val 5000"/>
            </a:avLst>
          </a:prstGeom>
          <a:solidFill>
            <a:srgbClr val="F4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61998" y="4482000"/>
            <a:ext cx="3564000" cy="342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85FA5"/>
                </a:solidFill>
                <a:latin typeface="Calibri"/>
              </a:rPr>
              <a:t>10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61998" y="4823999"/>
            <a:ext cx="3564000" cy="180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32323"/>
                </a:solidFill>
                <a:latin typeface="Calibri"/>
              </a:rPr>
              <a:t>Typologies covered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33999" y="5004000"/>
            <a:ext cx="3420000" cy="378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6B6B64"/>
                </a:solidFill>
                <a:latin typeface="Calibri"/>
              </a:rPr>
              <a:t>Structuring, layering, mule, hawala, charity abuse, corridor, funnel, pass-through, third-party, circular.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279998" y="5615314"/>
            <a:ext cx="3564000" cy="251999"/>
          </a:xfrm>
          <a:prstGeom prst="roundRect">
            <a:avLst>
              <a:gd name="adj" fmla="val 10000"/>
            </a:avLst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33999" y="5615314"/>
            <a:ext cx="3456000" cy="251999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F6E56"/>
                </a:solidFill>
                <a:latin typeface="Calibri"/>
              </a:rPr>
              <a:t>✓  4–8× improvement in alert quality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282000"/>
            <a:ext cx="12240000" cy="917999"/>
          </a:xfrm>
          <a:prstGeom prst="rect">
            <a:avLst/>
          </a:prstGeom>
          <a:solidFill>
            <a:srgbClr val="0F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216000" y="6533999"/>
            <a:ext cx="396000" cy="396000"/>
          </a:xfrm>
          <a:prstGeom prst="roundRect">
            <a:avLst>
              <a:gd name="adj" fmla="val 15000"/>
            </a:avLst>
          </a:prstGeom>
          <a:solidFill>
            <a:srgbClr val="1A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16000" y="6533999"/>
            <a:ext cx="396000" cy="396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5DCAA5"/>
                </a:solidFill>
                <a:latin typeface="Calibri"/>
              </a:rPr>
              <a:t>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9999" y="6533999"/>
            <a:ext cx="2412000" cy="216000"/>
          </a:xfrm>
          <a:prstGeom prst="rect">
            <a:avLst/>
          </a:prstGeom>
          <a:noFill/>
        </p:spPr>
        <p:txBody>
          <a:bodyPr wrap="square" lIns="18000" tIns="7200" rIns="18000" bIns="720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Higher-quality alerts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9999" y="6750000"/>
            <a:ext cx="2412000" cy="216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FBBD4"/>
                </a:solidFill>
                <a:latin typeface="Calibri"/>
              </a:rPr>
              <a:t>Less analyst fatigue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276000" y="6533999"/>
            <a:ext cx="396000" cy="396000"/>
          </a:xfrm>
          <a:prstGeom prst="roundRect">
            <a:avLst>
              <a:gd name="adj" fmla="val 15000"/>
            </a:avLst>
          </a:prstGeom>
          <a:solidFill>
            <a:srgbClr val="1A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276000" y="6533999"/>
            <a:ext cx="396000" cy="396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5DCAA5"/>
                </a:solidFill>
                <a:latin typeface="Calibri"/>
              </a:rPr>
              <a:t>🔍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79999" y="6533999"/>
            <a:ext cx="2412000" cy="216000"/>
          </a:xfrm>
          <a:prstGeom prst="rect">
            <a:avLst/>
          </a:prstGeom>
          <a:noFill/>
        </p:spPr>
        <p:txBody>
          <a:bodyPr wrap="square" lIns="18000" tIns="7200" rIns="18000" bIns="720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Faster investigations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779999" y="6750000"/>
            <a:ext cx="2412000" cy="216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FBBD4"/>
                </a:solidFill>
                <a:latin typeface="Calibri"/>
              </a:rPr>
              <a:t>Auto-classified typologies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336000" y="6533999"/>
            <a:ext cx="396000" cy="396000"/>
          </a:xfrm>
          <a:prstGeom prst="roundRect">
            <a:avLst>
              <a:gd name="adj" fmla="val 15000"/>
            </a:avLst>
          </a:prstGeom>
          <a:solidFill>
            <a:srgbClr val="1A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336000" y="6533999"/>
            <a:ext cx="396000" cy="396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5DCAA5"/>
                </a:solidFill>
                <a:latin typeface="Calibri"/>
              </a:rPr>
              <a:t>🛡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39999" y="6533999"/>
            <a:ext cx="2412000" cy="216000"/>
          </a:xfrm>
          <a:prstGeom prst="rect">
            <a:avLst/>
          </a:prstGeom>
          <a:noFill/>
        </p:spPr>
        <p:txBody>
          <a:bodyPr wrap="square" lIns="18000" tIns="7200" rIns="18000" bIns="720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Better prioritisation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39999" y="6750000"/>
            <a:ext cx="2412000" cy="216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FBBD4"/>
                </a:solidFill>
                <a:latin typeface="Calibri"/>
              </a:rPr>
              <a:t>Risk scoring &amp; confidence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396000" y="6533999"/>
            <a:ext cx="396000" cy="396000"/>
          </a:xfrm>
          <a:prstGeom prst="roundRect">
            <a:avLst>
              <a:gd name="adj" fmla="val 15000"/>
            </a:avLst>
          </a:prstGeom>
          <a:solidFill>
            <a:srgbClr val="1A3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396000" y="6533999"/>
            <a:ext cx="396000" cy="396000"/>
          </a:xfrm>
          <a:prstGeom prst="rect">
            <a:avLst/>
          </a:prstGeom>
          <a:noFill/>
        </p:spPr>
        <p:txBody>
          <a:bodyPr wrap="square" lIns="18000" tIns="7200" rIns="18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5DCAA5"/>
                </a:solidFill>
                <a:latin typeface="Calibri"/>
              </a:rPr>
              <a:t>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899999" y="6533999"/>
            <a:ext cx="2412000" cy="216000"/>
          </a:xfrm>
          <a:prstGeom prst="rect">
            <a:avLst/>
          </a:prstGeom>
          <a:noFill/>
        </p:spPr>
        <p:txBody>
          <a:bodyPr wrap="square" lIns="18000" tIns="7200" rIns="18000" bIns="720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Stronger compliance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899999" y="6750000"/>
            <a:ext cx="2412000" cy="216000"/>
          </a:xfrm>
          <a:prstGeom prst="rect">
            <a:avLst/>
          </a:prstGeom>
          <a:noFill/>
        </p:spPr>
        <p:txBody>
          <a:bodyPr wrap="square" lIns="18000" tIns="7200" rIns="18000" bIns="72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FBBD4"/>
                </a:solidFill>
                <a:latin typeface="Calibri"/>
              </a:rPr>
              <a:t>Regulatory readiness</a:t>
            </a:r>
          </a:p>
        </p:txBody>
      </p:sp>
      <p:sp>
        <p:nvSpPr>
          <p:cNvPr id="107" name="Rounded Rectangle 26">
            <a:extLst>
              <a:ext uri="{FF2B5EF4-FFF2-40B4-BE49-F238E27FC236}">
                <a16:creationId xmlns:a16="http://schemas.microsoft.com/office/drawing/2014/main" id="{0A69AF29-7D87-07EF-B5FD-94DC8010EE02}"/>
              </a:ext>
            </a:extLst>
          </p:cNvPr>
          <p:cNvSpPr/>
          <p:nvPr/>
        </p:nvSpPr>
        <p:spPr>
          <a:xfrm>
            <a:off x="5074766" y="1332000"/>
            <a:ext cx="793698" cy="198000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7200" rIns="36000" bIns="7200" rtlCol="0" anchor="ctr"/>
          <a:lstStyle/>
          <a:p>
            <a:pPr algn="ctr"/>
            <a:r>
              <a:rPr sz="800" b="1">
                <a:solidFill>
                  <a:srgbClr val="0C447C"/>
                </a:solidFill>
                <a:latin typeface="Calibri"/>
              </a:rPr>
              <a:t>200+ features</a:t>
            </a:r>
          </a:p>
        </p:txBody>
      </p:sp>
      <p:sp>
        <p:nvSpPr>
          <p:cNvPr id="109" name="Rounded Rectangle 28">
            <a:extLst>
              <a:ext uri="{FF2B5EF4-FFF2-40B4-BE49-F238E27FC236}">
                <a16:creationId xmlns:a16="http://schemas.microsoft.com/office/drawing/2014/main" id="{D791008A-F393-B031-6F6A-0A6DDC6D07AE}"/>
              </a:ext>
            </a:extLst>
          </p:cNvPr>
          <p:cNvSpPr/>
          <p:nvPr/>
        </p:nvSpPr>
        <p:spPr>
          <a:xfrm>
            <a:off x="7010998" y="1332000"/>
            <a:ext cx="913803" cy="198000"/>
          </a:xfrm>
          <a:prstGeom prst="roundRect">
            <a:avLst>
              <a:gd name="adj" fmla="val 50000"/>
            </a:avLst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7200" rIns="36000" bIns="7200" rtlCol="0" anchor="ctr"/>
          <a:lstStyle/>
          <a:p>
            <a:pPr algn="ctr"/>
            <a:r>
              <a:rPr sz="800" b="1" dirty="0">
                <a:solidFill>
                  <a:srgbClr val="0C447C"/>
                </a:solidFill>
                <a:latin typeface="Calibri"/>
              </a:rPr>
              <a:t>Multi-label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381</Words>
  <Application>Microsoft Office PowerPoint</Application>
  <PresentationFormat>Custom</PresentationFormat>
  <Paragraphs>75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 Symbol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VISHNUPRIYA</dc:creator>
  <cp:keywords/>
  <dc:description>generated using python-pptx</dc:description>
  <cp:lastModifiedBy>917036180999</cp:lastModifiedBy>
  <cp:revision>2</cp:revision>
  <dcterms:created xsi:type="dcterms:W3CDTF">2013-01-27T09:14:16Z</dcterms:created>
  <dcterms:modified xsi:type="dcterms:W3CDTF">2026-05-07T12:25:22Z</dcterms:modified>
  <cp:category/>
</cp:coreProperties>
</file>